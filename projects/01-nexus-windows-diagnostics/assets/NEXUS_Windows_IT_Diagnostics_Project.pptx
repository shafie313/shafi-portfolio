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theme" Target="theme/theme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>
      <a:lvl1pPr>
        <a:defRPr sz="3000"/>
      </a:lvl1pPr>
    </p:titleStyle>
    <p:bodyStyle>
      <a:lvl1pPr>
        <a:defRPr sz="1800"/>
      </a:lvl1pPr>
    </p:bodyStyle>
    <p:otherStyle>
      <a:lvl1pPr>
        <a:defRPr sz="1600"/>
      </a:lvl1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C"/>
          </a:solidFill>
          <a:ln w="9525">
            <a:solidFill>
              <a:srgbClr val="090A0C"/>
            </a:solidFill>
          </a:ln>
        </p:spPr>
      </p:sp>
      <p:sp>
        <p:nvSpPr>
          <p:cNvPr id="3" name="Shape 3"/>
          <p:cNvSpPr/>
          <p:nvPr/>
        </p:nvSpPr>
        <p:spPr>
          <a:xfrm>
            <a:off x="594360" y="502920"/>
            <a:ext cx="502920" cy="41148"/>
          </a:xfrm>
          <a:prstGeom prst="rect">
            <a:avLst/>
          </a:prstGeom>
          <a:solidFill>
            <a:srgbClr val="77D99D"/>
          </a:solidFill>
          <a:ln w="9525">
            <a:solidFill>
              <a:srgbClr val="77D99D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594360" y="65836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900" b="1">
                <a:solidFill>
                  <a:srgbClr val="9AA6A2"/>
                </a:solidFill>
                <a:latin typeface="Arial"/>
              </a:rPr>
              <a:t xml:space="preserve">NEXUS  /  WINDOWS IT DIAGNOSTICS</a:t>
            </a:r>
            <a:endParaRPr lang="en-US" sz="900"/>
          </a:p>
        </p:txBody>
      </p:sp>
      <p:sp>
        <p:nvSpPr>
          <p:cNvPr id="90" name="Text 90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800">
                <a:solidFill>
                  <a:srgbClr val="7C8784"/>
                </a:solidFill>
                <a:latin typeface="Arial"/>
              </a:rPr>
              <a:t xml:space="preserve">MUHAMMED SHAFI AM  /  READ-ONLY DIAGNOSTICS  /  PROJECT OVERVIEW</a:t>
            </a:r>
            <a:endParaRPr lang="en-US" sz="800"/>
          </a:p>
        </p:txBody>
      </p:sp>
      <p:sp>
        <p:nvSpPr>
          <p:cNvPr id="91" name="Text 91"/>
          <p:cNvSpPr txBox="1"/>
          <p:nvPr/>
        </p:nvSpPr>
        <p:spPr>
          <a:xfrm>
            <a:off x="10881360" y="6519672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800" b="1">
                <a:solidFill>
                  <a:srgbClr val="77D99D"/>
                </a:solidFill>
                <a:latin typeface="Arial"/>
              </a:rPr>
              <a:t xml:space="preserve">01</a:t>
            </a:r>
            <a:endParaRPr lang="en-US" sz="800"/>
          </a:p>
        </p:txBody>
      </p:sp>
      <p:sp>
        <p:nvSpPr>
          <p:cNvPr id="6" name="Text 6"/>
          <p:cNvSpPr txBox="1"/>
          <p:nvPr/>
        </p:nvSpPr>
        <p:spPr>
          <a:xfrm>
            <a:off x="685800" y="1417320"/>
            <a:ext cx="6309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4400" b="1">
                <a:solidFill>
                  <a:srgbClr val="F4F5F7"/>
                </a:solidFill>
                <a:latin typeface="Arial"/>
              </a:rPr>
              <a:t xml:space="preserve">NEXUS</a:t>
            </a:r>
            <a:endParaRPr lang="en-US" sz="4400"/>
          </a:p>
        </p:txBody>
      </p:sp>
      <p:sp>
        <p:nvSpPr>
          <p:cNvPr id="7" name="Text 7"/>
          <p:cNvSpPr txBox="1"/>
          <p:nvPr/>
        </p:nvSpPr>
        <p:spPr>
          <a:xfrm>
            <a:off x="713232" y="2286000"/>
            <a:ext cx="6217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2300" b="1">
                <a:solidFill>
                  <a:srgbClr val="77D99D"/>
                </a:solidFill>
                <a:latin typeface="Arial"/>
              </a:rPr>
              <a:t xml:space="preserve">Windows IT Diagnostics Toolkit</a:t>
            </a:r>
            <a:endParaRPr lang="en-US" sz="2300"/>
          </a:p>
        </p:txBody>
      </p:sp>
      <p:sp>
        <p:nvSpPr>
          <p:cNvPr id="8" name="Text 8"/>
          <p:cNvSpPr txBox="1"/>
          <p:nvPr/>
        </p:nvSpPr>
        <p:spPr>
          <a:xfrm>
            <a:off x="713232" y="3154680"/>
            <a:ext cx="594360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750">
                <a:solidFill>
                  <a:srgbClr val="D0D6D4"/>
                </a:solidFill>
                <a:latin typeface="Arial"/>
              </a:rPr>
              <a:t xml:space="preserve">A read-only PowerShell project for collecting selected support checks and creating HTML + CSV reports.</a:t>
            </a:r>
            <a:endParaRPr lang="en-US" sz="1750"/>
          </a:p>
        </p:txBody>
      </p:sp>
      <p:sp>
        <p:nvSpPr>
          <p:cNvPr id="9" name="Text 9"/>
          <p:cNvSpPr txBox="1"/>
          <p:nvPr/>
        </p:nvSpPr>
        <p:spPr>
          <a:xfrm>
            <a:off x="713232" y="473659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100" b="1">
                <a:solidFill>
                  <a:srgbClr val="9AA6A2"/>
                </a:solidFill>
                <a:latin typeface="Arial"/>
              </a:rPr>
              <a:t xml:space="preserve">WINDOWS 10 / 11   •   POWERSHELL 5.1+</a:t>
            </a:r>
            <a:endParaRPr lang="en-US" sz="1100"/>
          </a:p>
        </p:txBody>
      </p:sp>
      <p:sp>
        <p:nvSpPr>
          <p:cNvPr id="10" name="Shape 10"/>
          <p:cNvSpPr/>
          <p:nvPr/>
        </p:nvSpPr>
        <p:spPr>
          <a:xfrm>
            <a:off x="7406640" y="2057400"/>
            <a:ext cx="1234440" cy="1051560"/>
          </a:xfrm>
          <a:prstGeom prst="roundRect">
            <a:avLst/>
          </a:prstGeom>
          <a:solidFill>
            <a:srgbClr val="151B19"/>
          </a:solidFill>
          <a:ln w="9525">
            <a:solidFill>
              <a:srgbClr val="4D8D68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7498080" y="2340864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100" b="1">
                <a:solidFill>
                  <a:srgbClr val="F4F5F7"/>
                </a:solidFill>
                <a:latin typeface="Arial"/>
              </a:rPr>
              <a:t xml:space="preserve">WINDOWS</a:t>
            </a:r>
            <a:endParaRPr lang="en-US" sz="1100"/>
          </a:p>
        </p:txBody>
      </p:sp>
      <p:sp>
        <p:nvSpPr>
          <p:cNvPr id="12" name="Shape 12"/>
          <p:cNvSpPr/>
          <p:nvPr/>
        </p:nvSpPr>
        <p:spPr>
          <a:xfrm>
            <a:off x="9034272" y="2057400"/>
            <a:ext cx="1234440" cy="1051560"/>
          </a:xfrm>
          <a:prstGeom prst="roundRect">
            <a:avLst/>
          </a:prstGeom>
          <a:solidFill>
            <a:srgbClr val="151B19"/>
          </a:solidFill>
          <a:ln w="9525">
            <a:solidFill>
              <a:srgbClr val="4D8D68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9116568" y="2340864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100" b="1">
                <a:solidFill>
                  <a:srgbClr val="77D99D"/>
                </a:solidFill>
                <a:latin typeface="Arial"/>
              </a:rPr>
              <a:t xml:space="preserve">NEXUS</a:t>
            </a:r>
            <a:endParaRPr lang="en-US" sz="1100"/>
          </a:p>
        </p:txBody>
      </p:sp>
      <p:sp>
        <p:nvSpPr>
          <p:cNvPr id="14" name="Shape 14"/>
          <p:cNvSpPr/>
          <p:nvPr/>
        </p:nvSpPr>
        <p:spPr>
          <a:xfrm>
            <a:off x="10652760" y="2057400"/>
            <a:ext cx="1097280" cy="1051560"/>
          </a:xfrm>
          <a:prstGeom prst="roundRect">
            <a:avLst/>
          </a:prstGeom>
          <a:solidFill>
            <a:srgbClr val="151B19"/>
          </a:solidFill>
          <a:ln w="9525">
            <a:solidFill>
              <a:srgbClr val="4D8D68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10725912" y="2340864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000" b="1">
                <a:solidFill>
                  <a:srgbClr val="F4F5F7"/>
                </a:solidFill>
                <a:latin typeface="Arial"/>
              </a:rPr>
              <a:t xml:space="preserve">REPORTS</a:t>
            </a:r>
            <a:endParaRPr lang="en-US" sz="1000"/>
          </a:p>
        </p:txBody>
      </p:sp>
      <p:sp>
        <p:nvSpPr>
          <p:cNvPr id="16" name="Shape 16"/>
          <p:cNvSpPr/>
          <p:nvPr/>
        </p:nvSpPr>
        <p:spPr>
          <a:xfrm>
            <a:off x="8659368" y="2514600"/>
            <a:ext cx="292608" cy="32004"/>
          </a:xfrm>
          <a:prstGeom prst="rect">
            <a:avLst/>
          </a:prstGeom>
          <a:solidFill>
            <a:srgbClr val="77D99D"/>
          </a:solidFill>
          <a:ln w="9525">
            <a:solidFill>
              <a:srgbClr val="77D99D"/>
            </a:solidFill>
          </a:ln>
        </p:spPr>
      </p:sp>
      <p:sp>
        <p:nvSpPr>
          <p:cNvPr id="17" name="Shape 17"/>
          <p:cNvSpPr/>
          <p:nvPr/>
        </p:nvSpPr>
        <p:spPr>
          <a:xfrm>
            <a:off x="10287000" y="2514600"/>
            <a:ext cx="292608" cy="32004"/>
          </a:xfrm>
          <a:prstGeom prst="rect">
            <a:avLst/>
          </a:prstGeom>
          <a:solidFill>
            <a:srgbClr val="77D99D"/>
          </a:solidFill>
          <a:ln w="9525">
            <a:solidFill>
              <a:srgbClr val="77D99D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7360920" y="379476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200" b="1">
                <a:solidFill>
                  <a:srgbClr val="9AA6A2"/>
                </a:solidFill>
                <a:latin typeface="Arial"/>
              </a:rPr>
              <a:t xml:space="preserve">CHECK  →  REVIEW  →  DECIDE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C"/>
          </a:solidFill>
          <a:ln w="9525">
            <a:solidFill>
              <a:srgbClr val="090A0C"/>
            </a:solidFill>
          </a:ln>
        </p:spPr>
      </p:sp>
      <p:sp>
        <p:nvSpPr>
          <p:cNvPr id="3" name="Shape 3"/>
          <p:cNvSpPr/>
          <p:nvPr/>
        </p:nvSpPr>
        <p:spPr>
          <a:xfrm>
            <a:off x="594360" y="502920"/>
            <a:ext cx="502920" cy="41148"/>
          </a:xfrm>
          <a:prstGeom prst="rect">
            <a:avLst/>
          </a:prstGeom>
          <a:solidFill>
            <a:srgbClr val="77D99D"/>
          </a:solidFill>
          <a:ln w="9525">
            <a:solidFill>
              <a:srgbClr val="77D99D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594360" y="65836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900" b="1">
                <a:solidFill>
                  <a:srgbClr val="9AA6A2"/>
                </a:solidFill>
                <a:latin typeface="Arial"/>
              </a:rPr>
              <a:t xml:space="preserve">NEXUS  /  WINDOWS IT DIAGNOSTICS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94360" y="98755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2550" b="1">
                <a:solidFill>
                  <a:srgbClr val="F4F5F7"/>
                </a:solidFill>
                <a:latin typeface="Arial"/>
              </a:rPr>
              <a:t xml:space="preserve">The support problem and the project response</a:t>
            </a:r>
            <a:endParaRPr lang="en-US" sz="2550"/>
          </a:p>
        </p:txBody>
      </p:sp>
      <p:sp>
        <p:nvSpPr>
          <p:cNvPr id="90" name="Text 90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800">
                <a:solidFill>
                  <a:srgbClr val="7C8784"/>
                </a:solidFill>
                <a:latin typeface="Arial"/>
              </a:rPr>
              <a:t xml:space="preserve">MUHAMMED SHAFI AM  /  READ-ONLY DIAGNOSTICS  /  PROJECT OVERVIEW</a:t>
            </a:r>
            <a:endParaRPr lang="en-US" sz="800"/>
          </a:p>
        </p:txBody>
      </p:sp>
      <p:sp>
        <p:nvSpPr>
          <p:cNvPr id="91" name="Text 91"/>
          <p:cNvSpPr txBox="1"/>
          <p:nvPr/>
        </p:nvSpPr>
        <p:spPr>
          <a:xfrm>
            <a:off x="10881360" y="6519672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800" b="1">
                <a:solidFill>
                  <a:srgbClr val="77D99D"/>
                </a:solidFill>
                <a:latin typeface="Arial"/>
              </a:rPr>
              <a:t xml:space="preserve">02</a:t>
            </a:r>
            <a:endParaRPr lang="en-US" sz="800"/>
          </a:p>
        </p:txBody>
      </p:sp>
      <p:sp>
        <p:nvSpPr>
          <p:cNvPr id="10" name="Shape 10"/>
          <p:cNvSpPr/>
          <p:nvPr/>
        </p:nvSpPr>
        <p:spPr>
          <a:xfrm>
            <a:off x="594360" y="1828800"/>
            <a:ext cx="3520440" cy="3611880"/>
          </a:xfrm>
          <a:prstGeom prst="roundRect">
            <a:avLst/>
          </a:prstGeom>
          <a:solidFill>
            <a:srgbClr val="11151A"/>
          </a:solidFill>
          <a:ln w="9525">
            <a:solidFill>
              <a:srgbClr val="29322F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795528" y="2011680"/>
            <a:ext cx="311810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600" b="1">
                <a:solidFill>
                  <a:srgbClr val="77D99D"/>
                </a:solidFill>
                <a:latin typeface="Arial"/>
              </a:rPr>
              <a:t xml:space="preserve">THE CHALLENGE</a:t>
            </a:r>
            <a:endParaRPr lang="en-US" sz="1600"/>
          </a:p>
        </p:txBody>
      </p:sp>
      <p:sp>
        <p:nvSpPr>
          <p:cNvPr id="12" name="Text 12"/>
          <p:cNvSpPr txBox="1"/>
          <p:nvPr/>
        </p:nvSpPr>
        <p:spPr>
          <a:xfrm>
            <a:off x="795528" y="2487168"/>
            <a:ext cx="3118104" cy="2834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300">
                <a:solidFill>
                  <a:srgbClr val="D0D6D4"/>
                </a:solidFill>
                <a:latin typeface="Arial"/>
              </a:rPr>
              <a:t xml:space="preserve">A technician may need to inspect different parts of Windows before choosing what to troubleshoot.</a:t>
            </a:r>
            <a:endParaRPr lang="en-US" sz="1300"/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300">
                <a:solidFill>
                  <a:srgbClr val="D0D6D4"/>
                </a:solidFill>
                <a:latin typeface="Arial"/>
              </a:rPr>
              <a:t xml:space="preserve"/>
            </a:r>
            <a:endParaRPr lang="en-US" sz="1300"/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300">
                <a:solidFill>
                  <a:srgbClr val="D0D6D4"/>
                </a:solidFill>
                <a:latin typeface="Arial"/>
              </a:rPr>
              <a:t xml:space="preserve">Manual checks can be repetitive and their results are easy to overlook.</a:t>
            </a:r>
            <a:endParaRPr lang="en-US" sz="1300"/>
          </a:p>
        </p:txBody>
      </p:sp>
      <p:sp>
        <p:nvSpPr>
          <p:cNvPr id="20" name="Shape 20"/>
          <p:cNvSpPr/>
          <p:nvPr/>
        </p:nvSpPr>
        <p:spPr>
          <a:xfrm>
            <a:off x="4343400" y="1828800"/>
            <a:ext cx="3520440" cy="3611880"/>
          </a:xfrm>
          <a:prstGeom prst="roundRect">
            <a:avLst/>
          </a:prstGeom>
          <a:solidFill>
            <a:srgbClr val="11151A"/>
          </a:solidFill>
          <a:ln w="9525">
            <a:solidFill>
              <a:srgbClr val="29322F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4544568" y="2011680"/>
            <a:ext cx="311810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600" b="1">
                <a:solidFill>
                  <a:srgbClr val="77D99D"/>
                </a:solidFill>
                <a:latin typeface="Arial"/>
              </a:rPr>
              <a:t xml:space="preserve">THE RESPONSE</a:t>
            </a:r>
            <a:endParaRPr lang="en-US" sz="1600"/>
          </a:p>
        </p:txBody>
      </p:sp>
      <p:sp>
        <p:nvSpPr>
          <p:cNvPr id="22" name="Text 22"/>
          <p:cNvSpPr txBox="1"/>
          <p:nvPr/>
        </p:nvSpPr>
        <p:spPr>
          <a:xfrm>
            <a:off x="4544568" y="2487168"/>
            <a:ext cx="3118104" cy="2834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300">
                <a:solidFill>
                  <a:srgbClr val="D0D6D4"/>
                </a:solidFill>
                <a:latin typeface="Arial"/>
              </a:rPr>
              <a:t xml:space="preserve">NEXUS groups selected read-only checks in one PowerShell script.</a:t>
            </a:r>
            <a:endParaRPr lang="en-US" sz="1300"/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300">
                <a:solidFill>
                  <a:srgbClr val="D0D6D4"/>
                </a:solidFill>
                <a:latin typeface="Arial"/>
              </a:rPr>
              <a:t xml:space="preserve"/>
            </a:r>
            <a:endParaRPr lang="en-US" sz="1300"/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300">
                <a:solidFill>
                  <a:srgbClr val="D0D6D4"/>
                </a:solidFill>
                <a:latin typeface="Arial"/>
              </a:rPr>
              <a:t xml:space="preserve">It records results with PASS, WARNING, FAIL, INFO or NOT TESTED status.</a:t>
            </a:r>
            <a:endParaRPr lang="en-US" sz="1300"/>
          </a:p>
        </p:txBody>
      </p:sp>
      <p:sp>
        <p:nvSpPr>
          <p:cNvPr id="30" name="Shape 30"/>
          <p:cNvSpPr/>
          <p:nvPr/>
        </p:nvSpPr>
        <p:spPr>
          <a:xfrm>
            <a:off x="8092440" y="1828800"/>
            <a:ext cx="3520440" cy="3611880"/>
          </a:xfrm>
          <a:prstGeom prst="roundRect">
            <a:avLst/>
          </a:prstGeom>
          <a:solidFill>
            <a:srgbClr val="11151A"/>
          </a:solidFill>
          <a:ln w="9525">
            <a:solidFill>
              <a:srgbClr val="29322F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8293608" y="2011680"/>
            <a:ext cx="311810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600" b="1">
                <a:solidFill>
                  <a:srgbClr val="77D99D"/>
                </a:solidFill>
                <a:latin typeface="Arial"/>
              </a:rPr>
              <a:t xml:space="preserve">THE BOUNDARY</a:t>
            </a:r>
            <a:endParaRPr lang="en-US" sz="1600"/>
          </a:p>
        </p:txBody>
      </p:sp>
      <p:sp>
        <p:nvSpPr>
          <p:cNvPr id="32" name="Text 32"/>
          <p:cNvSpPr txBox="1"/>
          <p:nvPr/>
        </p:nvSpPr>
        <p:spPr>
          <a:xfrm>
            <a:off x="8293608" y="2487168"/>
            <a:ext cx="3118104" cy="2834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300">
                <a:solidFill>
                  <a:srgbClr val="D0D6D4"/>
                </a:solidFill>
                <a:latin typeface="Arial"/>
              </a:rPr>
              <a:t xml:space="preserve">The script creates reports; it does not repair the PC.</a:t>
            </a:r>
            <a:endParaRPr lang="en-US" sz="1300"/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300">
                <a:solidFill>
                  <a:srgbClr val="D0D6D4"/>
                </a:solidFill>
                <a:latin typeface="Arial"/>
              </a:rPr>
              <a:t xml:space="preserve"/>
            </a:r>
            <a:endParaRPr lang="en-US" sz="1300"/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300">
                <a:solidFill>
                  <a:srgbClr val="D0D6D4"/>
                </a:solidFill>
                <a:latin typeface="Arial"/>
              </a:rPr>
              <a:t xml:space="preserve">A technician reviews the results, checks context and decides the next action.</a:t>
            </a:r>
            <a:endParaRPr lang="en-US" sz="1300"/>
          </a:p>
        </p:txBody>
      </p:sp>
      <p:sp>
        <p:nvSpPr>
          <p:cNvPr id="40" name="Text 40"/>
          <p:cNvSpPr txBox="1"/>
          <p:nvPr/>
        </p:nvSpPr>
        <p:spPr>
          <a:xfrm>
            <a:off x="658368" y="5715000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300" b="1">
                <a:solidFill>
                  <a:srgbClr val="F0BF69"/>
                </a:solidFill>
                <a:latin typeface="Arial"/>
              </a:rPr>
              <a:t xml:space="preserve">A diagnostic result is a clue to verify — not a guarantee that the computer is healthy.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C"/>
          </a:solidFill>
          <a:ln w="9525">
            <a:solidFill>
              <a:srgbClr val="090A0C"/>
            </a:solidFill>
          </a:ln>
        </p:spPr>
      </p:sp>
      <p:sp>
        <p:nvSpPr>
          <p:cNvPr id="3" name="Shape 3"/>
          <p:cNvSpPr/>
          <p:nvPr/>
        </p:nvSpPr>
        <p:spPr>
          <a:xfrm>
            <a:off x="594360" y="502920"/>
            <a:ext cx="502920" cy="41148"/>
          </a:xfrm>
          <a:prstGeom prst="rect">
            <a:avLst/>
          </a:prstGeom>
          <a:solidFill>
            <a:srgbClr val="77D99D"/>
          </a:solidFill>
          <a:ln w="9525">
            <a:solidFill>
              <a:srgbClr val="77D99D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594360" y="65836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900" b="1">
                <a:solidFill>
                  <a:srgbClr val="9AA6A2"/>
                </a:solidFill>
                <a:latin typeface="Arial"/>
              </a:rPr>
              <a:t xml:space="preserve">NEXUS  /  WINDOWS IT DIAGNOSTICS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94360" y="98755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2550" b="1">
                <a:solidFill>
                  <a:srgbClr val="F4F5F7"/>
                </a:solidFill>
                <a:latin typeface="Arial"/>
              </a:rPr>
              <a:t xml:space="preserve">What the supplied v3.0 script checks</a:t>
            </a:r>
            <a:endParaRPr lang="en-US" sz="2550"/>
          </a:p>
        </p:txBody>
      </p:sp>
      <p:sp>
        <p:nvSpPr>
          <p:cNvPr id="90" name="Text 90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800">
                <a:solidFill>
                  <a:srgbClr val="7C8784"/>
                </a:solidFill>
                <a:latin typeface="Arial"/>
              </a:rPr>
              <a:t xml:space="preserve">MUHAMMED SHAFI AM  /  READ-ONLY DIAGNOSTICS  /  PROJECT OVERVIEW</a:t>
            </a:r>
            <a:endParaRPr lang="en-US" sz="800"/>
          </a:p>
        </p:txBody>
      </p:sp>
      <p:sp>
        <p:nvSpPr>
          <p:cNvPr id="91" name="Text 91"/>
          <p:cNvSpPr txBox="1"/>
          <p:nvPr/>
        </p:nvSpPr>
        <p:spPr>
          <a:xfrm>
            <a:off x="10881360" y="6519672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800" b="1">
                <a:solidFill>
                  <a:srgbClr val="77D99D"/>
                </a:solidFill>
                <a:latin typeface="Arial"/>
              </a:rPr>
              <a:t xml:space="preserve">03</a:t>
            </a:r>
            <a:endParaRPr lang="en-US" sz="800"/>
          </a:p>
        </p:txBody>
      </p:sp>
      <p:sp>
        <p:nvSpPr>
          <p:cNvPr id="10" name="Shape 10"/>
          <p:cNvSpPr/>
          <p:nvPr/>
        </p:nvSpPr>
        <p:spPr>
          <a:xfrm>
            <a:off x="594360" y="1719072"/>
            <a:ext cx="5394960" cy="1783080"/>
          </a:xfrm>
          <a:prstGeom prst="roundRect">
            <a:avLst/>
          </a:prstGeom>
          <a:solidFill>
            <a:srgbClr val="11151A"/>
          </a:solidFill>
          <a:ln w="9525">
            <a:solidFill>
              <a:srgbClr val="29322F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795528" y="1901952"/>
            <a:ext cx="499262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600" b="1">
                <a:solidFill>
                  <a:srgbClr val="77D99D"/>
                </a:solidFill>
                <a:latin typeface="Arial"/>
              </a:rPr>
              <a:t xml:space="preserve">SYSTEM &amp; STORAGE</a:t>
            </a:r>
            <a:endParaRPr lang="en-US" sz="1600"/>
          </a:p>
        </p:txBody>
      </p:sp>
      <p:sp>
        <p:nvSpPr>
          <p:cNvPr id="12" name="Text 12"/>
          <p:cNvSpPr txBox="1"/>
          <p:nvPr/>
        </p:nvSpPr>
        <p:spPr>
          <a:xfrm>
            <a:off x="795528" y="2377440"/>
            <a:ext cx="4992624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150">
                <a:solidFill>
                  <a:srgbClr val="D0D6D4"/>
                </a:solidFill>
                <a:latin typeface="Arial"/>
              </a:rPr>
              <a:t xml:space="preserve">Computer / Windows details, processor, uptime, memory use and fixed-disk free space.</a:t>
            </a:r>
            <a:endParaRPr lang="en-US" sz="1150"/>
          </a:p>
        </p:txBody>
      </p:sp>
      <p:sp>
        <p:nvSpPr>
          <p:cNvPr id="20" name="Shape 20"/>
          <p:cNvSpPr/>
          <p:nvPr/>
        </p:nvSpPr>
        <p:spPr>
          <a:xfrm>
            <a:off x="6172200" y="1719072"/>
            <a:ext cx="5394960" cy="1783080"/>
          </a:xfrm>
          <a:prstGeom prst="roundRect">
            <a:avLst/>
          </a:prstGeom>
          <a:solidFill>
            <a:srgbClr val="11151A"/>
          </a:solidFill>
          <a:ln w="9525">
            <a:solidFill>
              <a:srgbClr val="29322F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6373368" y="1901952"/>
            <a:ext cx="499262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600" b="1">
                <a:solidFill>
                  <a:srgbClr val="77D99D"/>
                </a:solidFill>
                <a:latin typeface="Arial"/>
              </a:rPr>
              <a:t xml:space="preserve">NETWORK</a:t>
            </a:r>
            <a:endParaRPr lang="en-US" sz="1600"/>
          </a:p>
        </p:txBody>
      </p:sp>
      <p:sp>
        <p:nvSpPr>
          <p:cNvPr id="22" name="Text 22"/>
          <p:cNvSpPr txBox="1"/>
          <p:nvPr/>
        </p:nvSpPr>
        <p:spPr>
          <a:xfrm>
            <a:off x="6373368" y="2377440"/>
            <a:ext cx="4992624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150">
                <a:solidFill>
                  <a:srgbClr val="D0D6D4"/>
                </a:solidFill>
                <a:latin typeface="Arial"/>
              </a:rPr>
              <a:t xml:space="preserve">IPv4, gateway, DNS, adapters, DNS resolution, HTTPS port 443, and 10 pings to 1.1.1.1.</a:t>
            </a:r>
            <a:endParaRPr lang="en-US" sz="1150"/>
          </a:p>
        </p:txBody>
      </p:sp>
      <p:sp>
        <p:nvSpPr>
          <p:cNvPr id="30" name="Shape 30"/>
          <p:cNvSpPr/>
          <p:nvPr/>
        </p:nvSpPr>
        <p:spPr>
          <a:xfrm>
            <a:off x="594360" y="3703320"/>
            <a:ext cx="5394960" cy="1783080"/>
          </a:xfrm>
          <a:prstGeom prst="roundRect">
            <a:avLst/>
          </a:prstGeom>
          <a:solidFill>
            <a:srgbClr val="11151A"/>
          </a:solidFill>
          <a:ln w="9525">
            <a:solidFill>
              <a:srgbClr val="29322F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795528" y="3886200"/>
            <a:ext cx="499262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600" b="1">
                <a:solidFill>
                  <a:srgbClr val="77D99D"/>
                </a:solidFill>
                <a:latin typeface="Arial"/>
              </a:rPr>
              <a:t xml:space="preserve">SERVICES &amp; PRINTING</a:t>
            </a:r>
            <a:endParaRPr lang="en-US" sz="1600"/>
          </a:p>
        </p:txBody>
      </p:sp>
      <p:sp>
        <p:nvSpPr>
          <p:cNvPr id="32" name="Text 32"/>
          <p:cNvSpPr txBox="1"/>
          <p:nvPr/>
        </p:nvSpPr>
        <p:spPr>
          <a:xfrm>
            <a:off x="795528" y="4361688"/>
            <a:ext cx="4992624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150">
                <a:solidFill>
                  <a:srgbClr val="D0D6D4"/>
                </a:solidFill>
                <a:latin typeface="Arial"/>
              </a:rPr>
              <a:t xml:space="preserve">DHCP Client and Print Spooler states, installed printers, and visible print jobs.</a:t>
            </a:r>
            <a:endParaRPr lang="en-US" sz="1150"/>
          </a:p>
        </p:txBody>
      </p:sp>
      <p:sp>
        <p:nvSpPr>
          <p:cNvPr id="40" name="Shape 40"/>
          <p:cNvSpPr/>
          <p:nvPr/>
        </p:nvSpPr>
        <p:spPr>
          <a:xfrm>
            <a:off x="6172200" y="3703320"/>
            <a:ext cx="5394960" cy="1783080"/>
          </a:xfrm>
          <a:prstGeom prst="roundRect">
            <a:avLst/>
          </a:prstGeom>
          <a:solidFill>
            <a:srgbClr val="11151A"/>
          </a:solidFill>
          <a:ln w="9525">
            <a:solidFill>
              <a:srgbClr val="29322F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6373368" y="3886200"/>
            <a:ext cx="499262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600" b="1">
                <a:solidFill>
                  <a:srgbClr val="77D99D"/>
                </a:solidFill>
                <a:latin typeface="Arial"/>
              </a:rPr>
              <a:t xml:space="preserve">WINDOWS &amp; SECURITY SIGNALS</a:t>
            </a:r>
            <a:endParaRPr lang="en-US" sz="1600"/>
          </a:p>
        </p:txBody>
      </p:sp>
      <p:sp>
        <p:nvSpPr>
          <p:cNvPr id="42" name="Text 42"/>
          <p:cNvSpPr txBox="1"/>
          <p:nvPr/>
        </p:nvSpPr>
        <p:spPr>
          <a:xfrm>
            <a:off x="6373368" y="4361688"/>
            <a:ext cx="4992624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150">
                <a:solidFill>
                  <a:srgbClr val="D0D6D4"/>
                </a:solidFill>
                <a:latin typeface="Arial"/>
              </a:rPr>
              <a:t xml:space="preserve">Selected software / activation checks, recent update and shutdown events, and Defender / Sense services.</a:t>
            </a:r>
            <a:endParaRPr lang="en-US" sz="1150"/>
          </a:p>
        </p:txBody>
      </p:sp>
      <p:sp>
        <p:nvSpPr>
          <p:cNvPr id="50" name="Text 50"/>
          <p:cNvSpPr txBox="1"/>
          <p:nvPr/>
        </p:nvSpPr>
        <p:spPr>
          <a:xfrm>
            <a:off x="658368" y="5696712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050">
                <a:solidFill>
                  <a:srgbClr val="9AA6A2"/>
                </a:solidFill>
                <a:latin typeface="Arial"/>
              </a:rPr>
              <a:t xml:space="preserve">An optional shared-folder check is skipped until an authorized path is configured.</a:t>
            </a:r>
            <a:endParaRPr lang="en-US" sz="1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C"/>
          </a:solidFill>
          <a:ln w="9525">
            <a:solidFill>
              <a:srgbClr val="090A0C"/>
            </a:solidFill>
          </a:ln>
        </p:spPr>
      </p:sp>
      <p:sp>
        <p:nvSpPr>
          <p:cNvPr id="3" name="Shape 3"/>
          <p:cNvSpPr/>
          <p:nvPr/>
        </p:nvSpPr>
        <p:spPr>
          <a:xfrm>
            <a:off x="594360" y="502920"/>
            <a:ext cx="502920" cy="41148"/>
          </a:xfrm>
          <a:prstGeom prst="rect">
            <a:avLst/>
          </a:prstGeom>
          <a:solidFill>
            <a:srgbClr val="77D99D"/>
          </a:solidFill>
          <a:ln w="9525">
            <a:solidFill>
              <a:srgbClr val="77D99D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594360" y="65836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900" b="1">
                <a:solidFill>
                  <a:srgbClr val="9AA6A2"/>
                </a:solidFill>
                <a:latin typeface="Arial"/>
              </a:rPr>
              <a:t xml:space="preserve">NEXUS  /  WINDOWS IT DIAGNOSTICS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94360" y="98755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2550" b="1">
                <a:solidFill>
                  <a:srgbClr val="F4F5F7"/>
                </a:solidFill>
                <a:latin typeface="Arial"/>
              </a:rPr>
              <a:t xml:space="preserve">How the checks become usable output</a:t>
            </a:r>
            <a:endParaRPr lang="en-US" sz="2550"/>
          </a:p>
        </p:txBody>
      </p:sp>
      <p:sp>
        <p:nvSpPr>
          <p:cNvPr id="90" name="Text 90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800">
                <a:solidFill>
                  <a:srgbClr val="7C8784"/>
                </a:solidFill>
                <a:latin typeface="Arial"/>
              </a:rPr>
              <a:t xml:space="preserve">MUHAMMED SHAFI AM  /  READ-ONLY DIAGNOSTICS  /  PROJECT OVERVIEW</a:t>
            </a:r>
            <a:endParaRPr lang="en-US" sz="800"/>
          </a:p>
        </p:txBody>
      </p:sp>
      <p:sp>
        <p:nvSpPr>
          <p:cNvPr id="91" name="Text 91"/>
          <p:cNvSpPr txBox="1"/>
          <p:nvPr/>
        </p:nvSpPr>
        <p:spPr>
          <a:xfrm>
            <a:off x="10881360" y="6519672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800" b="1">
                <a:solidFill>
                  <a:srgbClr val="77D99D"/>
                </a:solidFill>
                <a:latin typeface="Arial"/>
              </a:rPr>
              <a:t xml:space="preserve">04</a:t>
            </a:r>
            <a:endParaRPr lang="en-US" sz="800"/>
          </a:p>
        </p:txBody>
      </p:sp>
      <p:sp>
        <p:nvSpPr>
          <p:cNvPr id="10" name="Shape 10"/>
          <p:cNvSpPr/>
          <p:nvPr/>
        </p:nvSpPr>
        <p:spPr>
          <a:xfrm>
            <a:off x="594360" y="1783080"/>
            <a:ext cx="2633472" cy="1874520"/>
          </a:xfrm>
          <a:prstGeom prst="roundRect">
            <a:avLst/>
          </a:prstGeom>
          <a:solidFill>
            <a:srgbClr val="11151A"/>
          </a:solidFill>
          <a:ln w="9525">
            <a:solidFill>
              <a:srgbClr val="29322F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795528" y="1965960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600" b="1">
                <a:solidFill>
                  <a:srgbClr val="77D99D"/>
                </a:solidFill>
                <a:latin typeface="Arial"/>
              </a:rPr>
              <a:t xml:space="preserve">01  RUN</a:t>
            </a:r>
            <a:endParaRPr lang="en-US" sz="1600"/>
          </a:p>
        </p:txBody>
      </p:sp>
      <p:sp>
        <p:nvSpPr>
          <p:cNvPr id="12" name="Text 12"/>
          <p:cNvSpPr txBox="1"/>
          <p:nvPr/>
        </p:nvSpPr>
        <p:spPr>
          <a:xfrm>
            <a:off x="795528" y="2441448"/>
            <a:ext cx="2231136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100">
                <a:solidFill>
                  <a:srgbClr val="D0D6D4"/>
                </a:solidFill>
                <a:latin typeface="Arial"/>
              </a:rPr>
              <a:t xml:space="preserve">Run on an authorized Windows 10/11 computer.</a:t>
            </a:r>
            <a:endParaRPr lang="en-US" sz="1100"/>
          </a:p>
        </p:txBody>
      </p:sp>
      <p:sp>
        <p:nvSpPr>
          <p:cNvPr id="20" name="Shape 20"/>
          <p:cNvSpPr/>
          <p:nvPr/>
        </p:nvSpPr>
        <p:spPr>
          <a:xfrm>
            <a:off x="3447288" y="1783080"/>
            <a:ext cx="2633472" cy="1874520"/>
          </a:xfrm>
          <a:prstGeom prst="roundRect">
            <a:avLst/>
          </a:prstGeom>
          <a:solidFill>
            <a:srgbClr val="11151A"/>
          </a:solidFill>
          <a:ln w="9525">
            <a:solidFill>
              <a:srgbClr val="29322F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3648456" y="1965960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600" b="1">
                <a:solidFill>
                  <a:srgbClr val="77D99D"/>
                </a:solidFill>
                <a:latin typeface="Arial"/>
              </a:rPr>
              <a:t xml:space="preserve">02  COLLECT</a:t>
            </a:r>
            <a:endParaRPr lang="en-US" sz="1600"/>
          </a:p>
        </p:txBody>
      </p:sp>
      <p:sp>
        <p:nvSpPr>
          <p:cNvPr id="22" name="Text 22"/>
          <p:cNvSpPr txBox="1"/>
          <p:nvPr/>
        </p:nvSpPr>
        <p:spPr>
          <a:xfrm>
            <a:off x="3648456" y="2441448"/>
            <a:ext cx="2231136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100">
                <a:solidFill>
                  <a:srgbClr val="D0D6D4"/>
                </a:solidFill>
                <a:latin typeface="Arial"/>
              </a:rPr>
              <a:t xml:space="preserve">Read system details and run configured checks.</a:t>
            </a:r>
            <a:endParaRPr lang="en-US" sz="1100"/>
          </a:p>
        </p:txBody>
      </p:sp>
      <p:sp>
        <p:nvSpPr>
          <p:cNvPr id="30" name="Shape 30"/>
          <p:cNvSpPr/>
          <p:nvPr/>
        </p:nvSpPr>
        <p:spPr>
          <a:xfrm>
            <a:off x="6300216" y="1783080"/>
            <a:ext cx="2633472" cy="1874520"/>
          </a:xfrm>
          <a:prstGeom prst="roundRect">
            <a:avLst/>
          </a:prstGeom>
          <a:solidFill>
            <a:srgbClr val="11151A"/>
          </a:solidFill>
          <a:ln w="9525">
            <a:solidFill>
              <a:srgbClr val="29322F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6501384" y="1965960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600" b="1">
                <a:solidFill>
                  <a:srgbClr val="77D99D"/>
                </a:solidFill>
                <a:latin typeface="Arial"/>
              </a:rPr>
              <a:t xml:space="preserve">03  SAVE</a:t>
            </a:r>
            <a:endParaRPr lang="en-US" sz="1600"/>
          </a:p>
        </p:txBody>
      </p:sp>
      <p:sp>
        <p:nvSpPr>
          <p:cNvPr id="32" name="Text 32"/>
          <p:cNvSpPr txBox="1"/>
          <p:nvPr/>
        </p:nvSpPr>
        <p:spPr>
          <a:xfrm>
            <a:off x="6501384" y="2441448"/>
            <a:ext cx="2231136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100">
                <a:solidFill>
                  <a:srgbClr val="D0D6D4"/>
                </a:solidFill>
                <a:latin typeface="Arial"/>
              </a:rPr>
              <a:t xml:space="preserve">Write timestamped reports beside the script.</a:t>
            </a:r>
            <a:endParaRPr lang="en-US" sz="1100"/>
          </a:p>
        </p:txBody>
      </p:sp>
      <p:sp>
        <p:nvSpPr>
          <p:cNvPr id="40" name="Shape 40"/>
          <p:cNvSpPr/>
          <p:nvPr/>
        </p:nvSpPr>
        <p:spPr>
          <a:xfrm>
            <a:off x="9153144" y="1783080"/>
            <a:ext cx="2432304" cy="1874520"/>
          </a:xfrm>
          <a:prstGeom prst="roundRect">
            <a:avLst/>
          </a:prstGeom>
          <a:solidFill>
            <a:srgbClr val="11151A"/>
          </a:solidFill>
          <a:ln w="9525">
            <a:solidFill>
              <a:srgbClr val="29322F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9354312" y="1965960"/>
            <a:ext cx="202996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600" b="1">
                <a:solidFill>
                  <a:srgbClr val="77D99D"/>
                </a:solidFill>
                <a:latin typeface="Arial"/>
              </a:rPr>
              <a:t xml:space="preserve">04  REVIEW</a:t>
            </a:r>
            <a:endParaRPr lang="en-US" sz="1600"/>
          </a:p>
        </p:txBody>
      </p:sp>
      <p:sp>
        <p:nvSpPr>
          <p:cNvPr id="42" name="Text 42"/>
          <p:cNvSpPr txBox="1"/>
          <p:nvPr/>
        </p:nvSpPr>
        <p:spPr>
          <a:xfrm>
            <a:off x="9354312" y="2441448"/>
            <a:ext cx="2029968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100">
                <a:solidFill>
                  <a:srgbClr val="D0D6D4"/>
                </a:solidFill>
                <a:latin typeface="Arial"/>
              </a:rPr>
              <a:t xml:space="preserve">Verify findings before acting.</a:t>
            </a:r>
            <a:endParaRPr lang="en-US" sz="1100"/>
          </a:p>
        </p:txBody>
      </p:sp>
      <p:sp>
        <p:nvSpPr>
          <p:cNvPr id="50" name="Shape 50"/>
          <p:cNvSpPr/>
          <p:nvPr/>
        </p:nvSpPr>
        <p:spPr>
          <a:xfrm>
            <a:off x="594360" y="3977640"/>
            <a:ext cx="5394960" cy="1417320"/>
          </a:xfrm>
          <a:prstGeom prst="roundRect">
            <a:avLst/>
          </a:prstGeom>
          <a:solidFill>
            <a:srgbClr val="11151A"/>
          </a:solidFill>
          <a:ln w="9525">
            <a:solidFill>
              <a:srgbClr val="29322F"/>
            </a:solidFill>
          </a:ln>
        </p:spPr>
      </p:sp>
      <p:sp>
        <p:nvSpPr>
          <p:cNvPr id="51" name="Text 51"/>
          <p:cNvSpPr txBox="1"/>
          <p:nvPr/>
        </p:nvSpPr>
        <p:spPr>
          <a:xfrm>
            <a:off x="795528" y="4160520"/>
            <a:ext cx="499262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600" b="1">
                <a:solidFill>
                  <a:srgbClr val="77D99D"/>
                </a:solidFill>
                <a:latin typeface="Arial"/>
              </a:rPr>
              <a:t xml:space="preserve">HTML REPORT</a:t>
            </a:r>
            <a:endParaRPr lang="en-US" sz="1600"/>
          </a:p>
        </p:txBody>
      </p:sp>
      <p:sp>
        <p:nvSpPr>
          <p:cNvPr id="52" name="Text 52"/>
          <p:cNvSpPr txBox="1"/>
          <p:nvPr/>
        </p:nvSpPr>
        <p:spPr>
          <a:xfrm>
            <a:off x="795528" y="4636008"/>
            <a:ext cx="499262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150">
                <a:solidFill>
                  <a:srgbClr val="D0D6D4"/>
                </a:solidFill>
                <a:latin typeface="Arial"/>
              </a:rPr>
              <a:t xml:space="preserve">Readable summary with status counts and a detailed results table.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172200" y="3977640"/>
            <a:ext cx="5394960" cy="1417320"/>
          </a:xfrm>
          <a:prstGeom prst="roundRect">
            <a:avLst/>
          </a:prstGeom>
          <a:solidFill>
            <a:srgbClr val="11151A"/>
          </a:solidFill>
          <a:ln w="9525">
            <a:solidFill>
              <a:srgbClr val="29322F"/>
            </a:solidFill>
          </a:ln>
        </p:spPr>
      </p:sp>
      <p:sp>
        <p:nvSpPr>
          <p:cNvPr id="61" name="Text 61"/>
          <p:cNvSpPr txBox="1"/>
          <p:nvPr/>
        </p:nvSpPr>
        <p:spPr>
          <a:xfrm>
            <a:off x="6373368" y="4160520"/>
            <a:ext cx="499262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600" b="1">
                <a:solidFill>
                  <a:srgbClr val="77D99D"/>
                </a:solidFill>
                <a:latin typeface="Arial"/>
              </a:rPr>
              <a:t xml:space="preserve">CSV REPORT</a:t>
            </a:r>
            <a:endParaRPr lang="en-US" sz="1600"/>
          </a:p>
        </p:txBody>
      </p:sp>
      <p:sp>
        <p:nvSpPr>
          <p:cNvPr id="62" name="Text 62"/>
          <p:cNvSpPr txBox="1"/>
          <p:nvPr/>
        </p:nvSpPr>
        <p:spPr>
          <a:xfrm>
            <a:off x="6373368" y="4636008"/>
            <a:ext cx="499262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150">
                <a:solidFill>
                  <a:srgbClr val="D0D6D4"/>
                </a:solidFill>
                <a:latin typeface="Arial"/>
              </a:rPr>
              <a:t xml:space="preserve">Structured check results for sorting or further review.</a:t>
            </a:r>
            <a:endParaRPr lang="en-US" sz="1150"/>
          </a:p>
        </p:txBody>
      </p:sp>
      <p:sp>
        <p:nvSpPr>
          <p:cNvPr id="70" name="Text 70"/>
          <p:cNvSpPr txBox="1"/>
          <p:nvPr/>
        </p:nvSpPr>
        <p:spPr>
          <a:xfrm>
            <a:off x="658368" y="571500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100">
                <a:solidFill>
                  <a:srgbClr val="9AA6A2"/>
                </a:solidFill>
                <a:latin typeface="Arial"/>
              </a:rPr>
              <a:t xml:space="preserve">Both files are saved in the Reports folder beside the script.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C"/>
          </a:solidFill>
          <a:ln w="9525">
            <a:solidFill>
              <a:srgbClr val="090A0C"/>
            </a:solidFill>
          </a:ln>
        </p:spPr>
      </p:sp>
      <p:sp>
        <p:nvSpPr>
          <p:cNvPr id="3" name="Shape 3"/>
          <p:cNvSpPr/>
          <p:nvPr/>
        </p:nvSpPr>
        <p:spPr>
          <a:xfrm>
            <a:off x="594360" y="502920"/>
            <a:ext cx="502920" cy="41148"/>
          </a:xfrm>
          <a:prstGeom prst="rect">
            <a:avLst/>
          </a:prstGeom>
          <a:solidFill>
            <a:srgbClr val="77D99D"/>
          </a:solidFill>
          <a:ln w="9525">
            <a:solidFill>
              <a:srgbClr val="77D99D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594360" y="65836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900" b="1">
                <a:solidFill>
                  <a:srgbClr val="9AA6A2"/>
                </a:solidFill>
                <a:latin typeface="Arial"/>
              </a:rPr>
              <a:t xml:space="preserve">NEXUS  /  WINDOWS IT DIAGNOSTICS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94360" y="98755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2550" b="1">
                <a:solidFill>
                  <a:srgbClr val="F4F5F7"/>
                </a:solidFill>
                <a:latin typeface="Arial"/>
              </a:rPr>
              <a:t xml:space="preserve">A safe, honest project demonstration</a:t>
            </a:r>
            <a:endParaRPr lang="en-US" sz="2550"/>
          </a:p>
        </p:txBody>
      </p:sp>
      <p:sp>
        <p:nvSpPr>
          <p:cNvPr id="90" name="Text 90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800">
                <a:solidFill>
                  <a:srgbClr val="7C8784"/>
                </a:solidFill>
                <a:latin typeface="Arial"/>
              </a:rPr>
              <a:t xml:space="preserve">MUHAMMED SHAFI AM  /  READ-ONLY DIAGNOSTICS  /  PROJECT OVERVIEW</a:t>
            </a:r>
            <a:endParaRPr lang="en-US" sz="800"/>
          </a:p>
        </p:txBody>
      </p:sp>
      <p:sp>
        <p:nvSpPr>
          <p:cNvPr id="91" name="Text 91"/>
          <p:cNvSpPr txBox="1"/>
          <p:nvPr/>
        </p:nvSpPr>
        <p:spPr>
          <a:xfrm>
            <a:off x="10881360" y="6519672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800" b="1">
                <a:solidFill>
                  <a:srgbClr val="77D99D"/>
                </a:solidFill>
                <a:latin typeface="Arial"/>
              </a:rPr>
              <a:t xml:space="preserve">05</a:t>
            </a:r>
            <a:endParaRPr lang="en-US" sz="800"/>
          </a:p>
        </p:txBody>
      </p:sp>
      <p:sp>
        <p:nvSpPr>
          <p:cNvPr id="10" name="Shape 10"/>
          <p:cNvSpPr/>
          <p:nvPr/>
        </p:nvSpPr>
        <p:spPr>
          <a:xfrm>
            <a:off x="594360" y="1691640"/>
            <a:ext cx="6766560" cy="3337560"/>
          </a:xfrm>
          <a:prstGeom prst="roundRect">
            <a:avLst/>
          </a:prstGeom>
          <a:solidFill>
            <a:srgbClr val="11151A"/>
          </a:solidFill>
          <a:ln w="9525">
            <a:solidFill>
              <a:srgbClr val="29322F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795528" y="1874520"/>
            <a:ext cx="636422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600" b="1">
                <a:solidFill>
                  <a:srgbClr val="77D99D"/>
                </a:solidFill>
                <a:latin typeface="Arial"/>
              </a:rPr>
              <a:t xml:space="preserve">SAY WHAT IT DOES</a:t>
            </a:r>
            <a:endParaRPr lang="en-US" sz="1600"/>
          </a:p>
        </p:txBody>
      </p:sp>
      <p:sp>
        <p:nvSpPr>
          <p:cNvPr id="12" name="Text 12"/>
          <p:cNvSpPr txBox="1"/>
          <p:nvPr/>
        </p:nvSpPr>
        <p:spPr>
          <a:xfrm>
            <a:off x="795528" y="2350008"/>
            <a:ext cx="6364224" cy="2560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350">
                <a:solidFill>
                  <a:srgbClr val="D0D6D4"/>
                </a:solidFill>
                <a:latin typeface="Arial"/>
              </a:rPr>
              <a:t xml:space="preserve">“NEXUS is a read-only Windows diagnostics project written in PowerShell. It checks selected system, storage, network and support-service information, then creates HTML and CSV reports. I review the results as clues for troubleshooting; the script does not automatically repair problems.”</a:t>
            </a:r>
            <a:endParaRPr lang="en-US" sz="1350"/>
          </a:p>
        </p:txBody>
      </p:sp>
      <p:sp>
        <p:nvSpPr>
          <p:cNvPr id="20" name="Shape 20"/>
          <p:cNvSpPr/>
          <p:nvPr/>
        </p:nvSpPr>
        <p:spPr>
          <a:xfrm>
            <a:off x="7635240" y="1691640"/>
            <a:ext cx="3931920" cy="3337560"/>
          </a:xfrm>
          <a:prstGeom prst="roundRect">
            <a:avLst/>
          </a:prstGeom>
          <a:solidFill>
            <a:srgbClr val="11151A"/>
          </a:solidFill>
          <a:ln w="9525">
            <a:solidFill>
              <a:srgbClr val="29322F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7836408" y="1874520"/>
            <a:ext cx="352958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600" b="1">
                <a:solidFill>
                  <a:srgbClr val="77D99D"/>
                </a:solidFill>
                <a:latin typeface="Arial"/>
              </a:rPr>
              <a:t xml:space="preserve">KEEP IN MIND</a:t>
            </a:r>
            <a:endParaRPr lang="en-US" sz="1600"/>
          </a:p>
        </p:txBody>
      </p:sp>
      <p:sp>
        <p:nvSpPr>
          <p:cNvPr id="22" name="Text 22"/>
          <p:cNvSpPr txBox="1"/>
          <p:nvPr/>
        </p:nvSpPr>
        <p:spPr>
          <a:xfrm>
            <a:off x="7836408" y="2350008"/>
            <a:ext cx="3529584" cy="2560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150">
                <a:solidFill>
                  <a:srgbClr val="D0D6D4"/>
                </a:solidFill>
                <a:latin typeface="Arial"/>
              </a:rPr>
              <a:t xml:space="preserve">Use only an authorized computer and follow local policy.</a:t>
            </a:r>
            <a:endParaRPr lang="en-US" sz="1150"/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150">
                <a:solidFill>
                  <a:srgbClr val="D0D6D4"/>
                </a:solidFill>
                <a:latin typeface="Arial"/>
              </a:rPr>
              <a:t xml:space="preserve"/>
            </a:r>
            <a:endParaRPr lang="en-US" sz="1150"/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150">
                <a:solidFill>
                  <a:srgbClr val="D0D6D4"/>
                </a:solidFill>
                <a:latin typeface="Arial"/>
              </a:rPr>
              <a:t xml:space="preserve">ICMP can be blocked; a failed ping alone does not prove an outage.</a:t>
            </a:r>
            <a:endParaRPr lang="en-US" sz="1150"/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150">
                <a:solidFill>
                  <a:srgbClr val="D0D6D4"/>
                </a:solidFill>
                <a:latin typeface="Arial"/>
              </a:rPr>
              <a:t xml:space="preserve"/>
            </a:r>
            <a:endParaRPr lang="en-US" sz="1150"/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150">
                <a:solidFill>
                  <a:srgbClr val="D0D6D4"/>
                </a:solidFill>
                <a:latin typeface="Arial"/>
              </a:rPr>
              <a:t xml:space="preserve">The script prompts for a configured password; that prompt is not strong security.</a:t>
            </a:r>
            <a:endParaRPr lang="en-US" sz="1150"/>
          </a:p>
        </p:txBody>
      </p:sp>
      <p:sp>
        <p:nvSpPr>
          <p:cNvPr id="30" name="Text 30"/>
          <p:cNvSpPr txBox="1"/>
          <p:nvPr/>
        </p:nvSpPr>
        <p:spPr>
          <a:xfrm>
            <a:off x="658368" y="534924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200" b="1">
                <a:solidFill>
                  <a:srgbClr val="77D99D"/>
                </a:solidFill>
                <a:latin typeface="Arial"/>
              </a:rPr>
              <a:t xml:space="preserve">DEMO: review the script → run it safely → open the generated HTML and CSV → explain one result and one limitation.</a:t>
            </a:r>
            <a:endParaRPr lang="en-US" sz="1200"/>
          </a:p>
        </p:txBody>
      </p:sp>
      <p:sp>
        <p:nvSpPr>
          <p:cNvPr id="31" name="Text 31"/>
          <p:cNvSpPr txBox="1"/>
          <p:nvPr/>
        </p:nvSpPr>
        <p:spPr>
          <a:xfrm>
            <a:off x="658368" y="597103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950">
                <a:solidFill>
                  <a:srgbClr val="9AA6A2"/>
                </a:solidFill>
                <a:latin typeface="Arial"/>
              </a:rPr>
              <a:t xml:space="preserve">The website illustration and these slides explain the design; they are not screenshots or test evidence.</a:t>
            </a:r>
            <a:endParaRPr lang="en-US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XUS">
  <a:themeElements>
    <a:clrScheme name="NEXUS">
      <a:dk1>
        <a:srgbClr val="090A0C"/>
      </a:dk1>
      <a:lt1>
        <a:srgbClr val="F4F5F7"/>
      </a:lt1>
      <a:dk2>
        <a:srgbClr val="11151A"/>
      </a:dk2>
      <a:lt2>
        <a:srgbClr val="D0D6D4"/>
      </a:lt2>
      <a:accent1>
        <a:srgbClr val="77D99D"/>
      </a:accent1>
      <a:accent2>
        <a:srgbClr val="EF3544"/>
      </a:accent2>
      <a:accent3>
        <a:srgbClr val="F0BF69"/>
      </a:accent3>
      <a:accent4>
        <a:srgbClr val="5D9CEC"/>
      </a:accent4>
      <a:accent5>
        <a:srgbClr val="9B7EDE"/>
      </a:accent5>
      <a:accent6>
        <a:srgbClr val="56C5C5"/>
      </a:accent6>
      <a:hlink>
        <a:srgbClr val="77D99D"/>
      </a:hlink>
      <a:folHlink>
        <a:srgbClr val="9DDCB4"/>
      </a:folHlink>
    </a:clrScheme>
    <a:fontScheme name="NEXUS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NEXUS">
      <a:fillStyleLst>
        <a:solidFill>
          <a:schemeClr val="phClr"/>
        </a:solidFill>
        <a:solidFill>
          <a:schemeClr val="phClr">
            <a:shade val="95000"/>
          </a:schemeClr>
        </a:solidFill>
        <a:solidFill>
          <a:schemeClr val="phClr">
            <a:shade val="90000"/>
          </a:schemeClr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shade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